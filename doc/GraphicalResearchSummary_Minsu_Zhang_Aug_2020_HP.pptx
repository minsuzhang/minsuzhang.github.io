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4027" r:id="rId4"/>
    <p:sldId id="4024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5A02D-7884-4460-A381-886FCA8FEC99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579B4-FBF5-4222-94B9-C984D90EE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67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79B4-FBF5-4222-94B9-C984D90EE9D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023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79B4-FBF5-4222-94B9-C984D90EE9D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19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3BDD91-BF46-462D-86FF-596DB5C4F02E}" type="slidenum">
              <a:rPr lang="en-US" altLang="ko-KR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4881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3BDD91-BF46-462D-86FF-596DB5C4F02E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5750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79B4-FBF5-4222-94B9-C984D90EE9D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103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79B4-FBF5-4222-94B9-C984D90EE9D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210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7621C-D84B-4AE5-8276-227693F24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2CB24C-AC55-4A8D-AA4C-2EE43AB03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DCEF3C-EF00-4C61-BBC7-B8176AB2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91F8C-1294-4813-81DA-E78E1D9A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93945B-602F-41FC-A1F0-BD2456D1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722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8EE59-B2A2-4804-BD98-BE2EC7C9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DE655-0313-4622-9CEA-BC53C61C7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083BD6-1B63-450D-9A54-BEAF85A5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667D08-4FB3-4F23-A727-EF12AC8B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42268-1D54-4403-B680-816690E2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62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3989C-D65F-417B-BD16-A05E2B11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D9BCA8-7E2D-4E08-BC6F-E71B66855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7011B-2FB6-431D-AEEF-62A55353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EECDB6-D992-42D2-A741-A181943D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1A1D17-F79A-4BAB-A288-E3A651EF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88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65CBF-86A1-49F5-A86F-7AD83B58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1650AC-1BCD-465F-B27A-8479EC109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D7F527-A921-41D8-8C01-480FB9C26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5A649-C28C-4C80-835B-CE5BD343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78956-6209-4AE8-A4EA-C7F9B71D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8F1D01-5801-4026-B30F-3BB2C39E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71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CBFD8-C4FA-4330-8BBA-D8ED2C84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1B0878-B401-4D3B-B9F6-12D104E1B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DB379D-6B4C-4BC2-8E7D-543C68042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D5574D-AC3E-4F6D-B6E6-C29786576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677EBD-A0A2-4025-8146-8C702024D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926BC8E-B630-4651-99D2-DE582356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573658-5552-49D0-98A0-42F68CEC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0BCB01-124F-4553-9095-F939C90E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63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B0FE5-1633-4B72-AD51-8F2B7FE7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CEE52D-A199-423E-9494-E71AC849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0689B5-5CA8-4D54-9AC2-4F4E6790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3302CA-A969-424A-8FAB-6A02B032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20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8C4239-ED37-49F3-8CAD-FEAA71C4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C03701-A370-4483-8E9A-E1F4241A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CB50E-BB4A-42C0-916D-AE09E415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18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E08BB-864F-4AB7-B752-F10CCBCF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630FB-D13D-4092-BC3D-7FD5A219F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20E5EF-7E1E-4BDC-B427-358F26EA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3CA61-28B6-48F4-91FF-EEC0B66E8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9C47BC-5E5D-495B-A807-7125DDFB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33A201-9049-4A2E-8605-B9694324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07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245D7-014F-4F2C-9B1B-682BE18F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2E1FAB-9EE2-4435-AD39-89E5BD97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1F5390-6AD8-434A-938D-B8C4D397A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58F30C-6D19-47A1-B5D2-469C32B6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8FC28-C58D-4B98-9188-18C18BDB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3C68A1-7BE7-4A9F-B5A3-6900915C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20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54F30-7968-449E-8DAE-7AE291F2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EAAAB8-2A03-4648-9B5E-385B37D0E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22CDF4-B1D4-4FE4-8BD9-6627D345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7ED5DA-8030-46E9-B34E-0D26FC10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8F74C9-416F-4D0E-99BB-C11B982B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35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E9643C-3130-4412-8875-E249FF671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8C813B-E727-4145-AB87-AAEB90CAC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E96F7-69B3-419E-9D9C-9E861B5E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809B94-3944-4E3D-B61F-4A227DA1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6CA97F-05E7-47BE-ADC5-A73C1FC5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87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9EFEA2-0874-4B6D-A7B9-6C4C8225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21CDA7-4DF8-4918-8235-6655ECAC1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4D963B-066C-44B8-8C6B-9C92E95E6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41D46-F85D-4C82-B1E2-237F8C60474F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15C96B-A79C-4482-9A5F-8438BA8A9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815CE3-FFB0-4752-A81B-F124BDDF4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732E3-1183-4839-86D1-ADB52ADBAB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87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eyewire.org/abou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ED27EDDB-86DC-4B94-9A9D-C0F51EADFE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6BC4F8C0-5C56-4CAD-90F5-E60D74D174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 descr="조류, 꽃, 나무이(가) 표시된 사진&#10;&#10;자동 생성된 설명">
            <a:extLst>
              <a:ext uri="{FF2B5EF4-FFF2-40B4-BE49-F238E27FC236}">
                <a16:creationId xmlns:a16="http://schemas.microsoft.com/office/drawing/2014/main" id="{92DF9971-6A6D-4031-A6D5-946BA0FCA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84"/>
            <a:ext cx="12192000" cy="6858000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F45F49F6-2E8D-46D2-8DF2-EF470703BD6E}"/>
              </a:ext>
            </a:extLst>
          </p:cNvPr>
          <p:cNvSpPr txBox="1">
            <a:spLocks/>
          </p:cNvSpPr>
          <p:nvPr/>
        </p:nvSpPr>
        <p:spPr>
          <a:xfrm>
            <a:off x="2005042" y="2006436"/>
            <a:ext cx="9144000" cy="67057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Graphical Research Summary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0F1A1B0C-2AE7-46A0-8C6A-3DD905EED653}"/>
              </a:ext>
            </a:extLst>
          </p:cNvPr>
          <p:cNvSpPr txBox="1">
            <a:spLocks/>
          </p:cNvSpPr>
          <p:nvPr/>
        </p:nvSpPr>
        <p:spPr>
          <a:xfrm>
            <a:off x="3421466" y="4946859"/>
            <a:ext cx="7309287" cy="67057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dirty="0">
                <a:latin typeface="Helvetica" panose="020B0604020202020204" pitchFamily="34" charset="0"/>
                <a:cs typeface="Helvetica" panose="020B0604020202020204" pitchFamily="34" charset="0"/>
              </a:rPr>
              <a:t>Clinical </a:t>
            </a:r>
            <a:r>
              <a:rPr lang="en-US" altLang="ko-KR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Neuroprosthetics</a:t>
            </a:r>
            <a:r>
              <a:rPr lang="en-US" altLang="ko-KR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Brain Interaction Lab</a:t>
            </a:r>
          </a:p>
          <a:p>
            <a:pPr algn="r"/>
            <a:r>
              <a:rPr lang="en-US" altLang="ko-KR" sz="2000" dirty="0">
                <a:latin typeface="Helvetica" panose="020B0604020202020204" pitchFamily="34" charset="0"/>
                <a:cs typeface="Helvetica" panose="020B0604020202020204" pitchFamily="34" charset="0"/>
              </a:rPr>
              <a:t>UT Austin</a:t>
            </a:r>
            <a:endParaRPr lang="ko-KR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1516E80-59AF-4C3E-97B3-52AAC68A9C6D}"/>
              </a:ext>
            </a:extLst>
          </p:cNvPr>
          <p:cNvSpPr txBox="1">
            <a:spLocks/>
          </p:cNvSpPr>
          <p:nvPr/>
        </p:nvSpPr>
        <p:spPr>
          <a:xfrm>
            <a:off x="3421465" y="5594862"/>
            <a:ext cx="7309287" cy="67057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1800" dirty="0">
                <a:latin typeface="Helvetica" panose="020B0604020202020204" pitchFamily="34" charset="0"/>
                <a:cs typeface="Helvetica" panose="020B0604020202020204" pitchFamily="34" charset="0"/>
              </a:rPr>
              <a:t>Aug. 25</a:t>
            </a:r>
            <a:r>
              <a:rPr lang="en-US" altLang="ko-KR" sz="18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th</a:t>
            </a:r>
            <a:r>
              <a:rPr lang="en-US" altLang="ko-KR" sz="1800" dirty="0">
                <a:latin typeface="Helvetica" panose="020B0604020202020204" pitchFamily="34" charset="0"/>
                <a:cs typeface="Helvetica" panose="020B0604020202020204" pitchFamily="34" charset="0"/>
              </a:rPr>
              <a:t>, 2020</a:t>
            </a:r>
            <a:endParaRPr lang="ko-KR" alt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87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56D54-5A53-413D-9CED-A207FBE1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14" y="256505"/>
            <a:ext cx="12191991" cy="873200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Contents</a:t>
            </a:r>
            <a:endParaRPr lang="ko-KR" altLang="en-US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7FFEAD-BAE8-4960-B2D9-7683528F7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0565"/>
            <a:ext cx="12192000" cy="5459180"/>
          </a:xfrm>
        </p:spPr>
        <p:txBody>
          <a:bodyPr lIns="360000" rIns="252000" numCol="1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Research experience</a:t>
            </a:r>
            <a:endParaRPr lang="en-US" altLang="ko-KR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Brain</a:t>
            </a:r>
            <a:r>
              <a:rPr lang="ko-KR" altLang="en-US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ko-K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slice</a:t>
            </a:r>
            <a:r>
              <a:rPr lang="ko-KR" altLang="en-US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ko-K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electrophysiology</a:t>
            </a:r>
            <a:r>
              <a:rPr lang="ko-KR" altLang="en-US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ko-K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system			</a:t>
            </a:r>
            <a:r>
              <a:rPr lang="en-US" altLang="ko-KR" sz="1800" spc="-150" dirty="0">
                <a:latin typeface="Segoe UI" panose="020B0502040204020203" pitchFamily="34" charset="0"/>
                <a:cs typeface="Segoe UI" panose="020B0502040204020203" pitchFamily="34" charset="0"/>
              </a:rPr>
              <a:t>(2019-2020, Korea Inst. of Sci. and Tech. – </a:t>
            </a:r>
            <a:r>
              <a:rPr lang="en-US" altLang="ko-KR" sz="1800" spc="-150" dirty="0" err="1">
                <a:latin typeface="Segoe UI" panose="020B0502040204020203" pitchFamily="34" charset="0"/>
                <a:cs typeface="Segoe UI" panose="020B0502040204020203" pitchFamily="34" charset="0"/>
              </a:rPr>
              <a:t>BioMicrosyst</a:t>
            </a:r>
            <a:r>
              <a:rPr lang="en-US" altLang="ko-KR" sz="1800" spc="-150" dirty="0">
                <a:latin typeface="Segoe UI" panose="020B0502040204020203" pitchFamily="34" charset="0"/>
                <a:cs typeface="Segoe UI" panose="020B0502040204020203" pitchFamily="34" charset="0"/>
              </a:rPr>
              <a:t>. Lab)</a:t>
            </a:r>
          </a:p>
          <a:p>
            <a:pPr lvl="1">
              <a:lnSpc>
                <a:spcPct val="150000"/>
              </a:lnSpc>
            </a:pPr>
            <a:r>
              <a:rPr lang="en-US" altLang="ko-K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Segregated polymer composites modeling		</a:t>
            </a:r>
            <a:r>
              <a:rPr lang="en-US" altLang="ko-KR" sz="1800" spc="-150" dirty="0">
                <a:latin typeface="Segoe UI" panose="020B0502040204020203" pitchFamily="34" charset="0"/>
                <a:cs typeface="Segoe UI" panose="020B0502040204020203" pitchFamily="34" charset="0"/>
              </a:rPr>
              <a:t>(2018-2019, Korea Univ. – Communication Systems Lab)</a:t>
            </a:r>
          </a:p>
          <a:p>
            <a:pPr lvl="1">
              <a:lnSpc>
                <a:spcPct val="150000"/>
              </a:lnSpc>
            </a:pPr>
            <a:r>
              <a:rPr lang="en-US" altLang="ko-K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Retinal </a:t>
            </a:r>
            <a:r>
              <a:rPr lang="en-US" altLang="ko-KR" sz="1800" b="1" i="1" dirty="0" err="1">
                <a:latin typeface="Segoe UI" panose="020B0502040204020203" pitchFamily="34" charset="0"/>
                <a:cs typeface="Segoe UI" panose="020B0502040204020203" pitchFamily="34" charset="0"/>
              </a:rPr>
              <a:t>connectomics</a:t>
            </a:r>
            <a:r>
              <a:rPr lang="en-US" altLang="ko-K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 project – </a:t>
            </a:r>
            <a:r>
              <a:rPr lang="en-US" altLang="ko-KR" sz="1800" b="1" i="1" dirty="0" err="1">
                <a:latin typeface="Segoe UI" panose="020B0502040204020203" pitchFamily="34" charset="0"/>
                <a:cs typeface="Segoe UI" panose="020B0502040204020203" pitchFamily="34" charset="0"/>
              </a:rPr>
              <a:t>EyeWire</a:t>
            </a:r>
            <a:r>
              <a:rPr lang="en-US" altLang="ko-K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  <a:r>
              <a:rPr lang="en-US" altLang="ko-KR" sz="1800" spc="-150" dirty="0">
                <a:latin typeface="Segoe UI" panose="020B0502040204020203" pitchFamily="34" charset="0"/>
                <a:cs typeface="Segoe UI" panose="020B0502040204020203" pitchFamily="34" charset="0"/>
              </a:rPr>
              <a:t>(2015, Princeton Univ. – Comp. Neuroscience Lab)</a:t>
            </a:r>
          </a:p>
          <a:p>
            <a:pPr lvl="1">
              <a:lnSpc>
                <a:spcPct val="150000"/>
              </a:lnSpc>
            </a:pPr>
            <a:endParaRPr lang="en-US" altLang="ko-KR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My Doctoral Goal</a:t>
            </a:r>
          </a:p>
          <a:p>
            <a:pPr lvl="1">
              <a:lnSpc>
                <a:spcPct val="150000"/>
              </a:lnSpc>
            </a:pPr>
            <a:r>
              <a:rPr lang="en-US" altLang="ko-KR" sz="1800" b="1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implement closed-loop control using</a:t>
            </a:r>
            <a:r>
              <a:rPr lang="ko-KR" altLang="en-US" sz="1800" b="1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ko-KR" sz="1800" b="1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noninvasive</a:t>
            </a:r>
            <a:r>
              <a:rPr lang="ko-KR" altLang="en-US" sz="1800" b="1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ko-KR" sz="1800" b="1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brain stimulation methods</a:t>
            </a:r>
            <a:endParaRPr lang="en-US" altLang="ko-KR" sz="1800" spc="-15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040DEA-A7D4-4BE2-AFE2-540AFDCD909E}"/>
              </a:ext>
            </a:extLst>
          </p:cNvPr>
          <p:cNvCxnSpPr/>
          <p:nvPr/>
        </p:nvCxnSpPr>
        <p:spPr>
          <a:xfrm>
            <a:off x="6284937" y="1536890"/>
            <a:ext cx="0" cy="249834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232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5285FC19-0989-4DB5-88FC-D4D10FE6A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0680" y="374193"/>
            <a:ext cx="8930640" cy="6486144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1FBDFB43-7315-40C1-B995-1DAAAA30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2191991" cy="87320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Brain slice electrophysiology system</a:t>
            </a:r>
            <a:b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ko-KR" sz="2700" b="1" dirty="0">
                <a:latin typeface="Segoe UI" panose="020B0502040204020203" pitchFamily="34" charset="0"/>
                <a:cs typeface="Segoe UI" panose="020B0502040204020203" pitchFamily="34" charset="0"/>
              </a:rPr>
              <a:t>(Korea Institute of Science and Technology, 2019 – 2020)</a:t>
            </a:r>
            <a:endParaRPr lang="ko-KR" altLang="en-US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936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6A013ED-B4AC-4AA0-83F6-B62ECE0E0D0C}"/>
              </a:ext>
            </a:extLst>
          </p:cNvPr>
          <p:cNvGrpSpPr/>
          <p:nvPr/>
        </p:nvGrpSpPr>
        <p:grpSpPr>
          <a:xfrm>
            <a:off x="1729206" y="456864"/>
            <a:ext cx="8794938" cy="6621002"/>
            <a:chOff x="1729206" y="161026"/>
            <a:chExt cx="8794938" cy="662100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1CA4344-886C-4431-AF40-1B004C89E513}"/>
                </a:ext>
              </a:extLst>
            </p:cNvPr>
            <p:cNvGrpSpPr/>
            <p:nvPr/>
          </p:nvGrpSpPr>
          <p:grpSpPr>
            <a:xfrm>
              <a:off x="1767092" y="5256012"/>
              <a:ext cx="1980000" cy="1303200"/>
              <a:chOff x="7058507" y="1201414"/>
              <a:chExt cx="1980000" cy="1428105"/>
            </a:xfrm>
          </p:grpSpPr>
          <p:pic>
            <p:nvPicPr>
              <p:cNvPr id="59" name="그림 58" descr="컵, 앉아있는, 유리, 테이블이(가) 표시된 사진&#10;&#10;자동 생성된 설명">
                <a:extLst>
                  <a:ext uri="{FF2B5EF4-FFF2-40B4-BE49-F238E27FC236}">
                    <a16:creationId xmlns:a16="http://schemas.microsoft.com/office/drawing/2014/main" id="{C10831BE-CC88-4129-B40E-23E4B2B0707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058507" y="1201414"/>
                <a:ext cx="1980000" cy="1428105"/>
              </a:xfrm>
              <a:prstGeom prst="rect">
                <a:avLst/>
              </a:prstGeom>
              <a:ln w="12700">
                <a:noFill/>
              </a:ln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C1E3E7B-FE99-406E-9391-AAA97BF81BA4}"/>
                  </a:ext>
                </a:extLst>
              </p:cNvPr>
              <p:cNvSpPr txBox="1"/>
              <p:nvPr/>
            </p:nvSpPr>
            <p:spPr bwMode="auto">
              <a:xfrm>
                <a:off x="8334823" y="1894087"/>
                <a:ext cx="376517" cy="3215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000" b="1" dirty="0"/>
                  <a:t>DG</a:t>
                </a:r>
                <a:endParaRPr lang="ko-KR" altLang="en-US" sz="1000" b="1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C4467C-685F-4D29-88CD-5BD8DC8F36D4}"/>
                  </a:ext>
                </a:extLst>
              </p:cNvPr>
              <p:cNvSpPr txBox="1"/>
              <p:nvPr/>
            </p:nvSpPr>
            <p:spPr bwMode="auto">
              <a:xfrm>
                <a:off x="7790794" y="2208347"/>
                <a:ext cx="495392" cy="3215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000" b="1" dirty="0"/>
                  <a:t>CA3</a:t>
                </a:r>
                <a:endParaRPr lang="ko-KR" altLang="en-US" sz="1000" b="1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C3703E2-1C13-47E3-8526-549947215604}"/>
                  </a:ext>
                </a:extLst>
              </p:cNvPr>
              <p:cNvSpPr txBox="1"/>
              <p:nvPr/>
            </p:nvSpPr>
            <p:spPr bwMode="auto">
              <a:xfrm>
                <a:off x="7184012" y="1886112"/>
                <a:ext cx="495392" cy="3215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000" b="1" dirty="0"/>
                  <a:t>CA2</a:t>
                </a:r>
                <a:endParaRPr lang="ko-KR" altLang="en-US" sz="1000" b="1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3607D5-96C6-47F5-AF65-BF142406F49E}"/>
                  </a:ext>
                </a:extLst>
              </p:cNvPr>
              <p:cNvSpPr txBox="1"/>
              <p:nvPr/>
            </p:nvSpPr>
            <p:spPr bwMode="auto">
              <a:xfrm>
                <a:off x="7563350" y="1375617"/>
                <a:ext cx="495392" cy="3215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000" b="1" dirty="0"/>
                  <a:t>CA1</a:t>
                </a:r>
                <a:endParaRPr lang="ko-KR" altLang="en-US" sz="1000" b="1" dirty="0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7AE9561-F8A6-421B-9766-A70B910B75AA}"/>
                </a:ext>
              </a:extLst>
            </p:cNvPr>
            <p:cNvGrpSpPr/>
            <p:nvPr/>
          </p:nvGrpSpPr>
          <p:grpSpPr>
            <a:xfrm>
              <a:off x="1770955" y="5256012"/>
              <a:ext cx="3954467" cy="1526016"/>
              <a:chOff x="7296234" y="1200426"/>
              <a:chExt cx="3832247" cy="1686209"/>
            </a:xfrm>
          </p:grpSpPr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A6B69131-62A7-4098-A2C8-AA7678C0D8AF}"/>
                  </a:ext>
                </a:extLst>
              </p:cNvPr>
              <p:cNvGrpSpPr/>
              <p:nvPr/>
            </p:nvGrpSpPr>
            <p:grpSpPr>
              <a:xfrm>
                <a:off x="7296234" y="1200426"/>
                <a:ext cx="3832247" cy="1443405"/>
                <a:chOff x="5579595" y="1194492"/>
                <a:chExt cx="3002023" cy="1334636"/>
              </a:xfrm>
            </p:grpSpPr>
            <p:pic>
              <p:nvPicPr>
                <p:cNvPr id="66" name="그림 65">
                  <a:extLst>
                    <a:ext uri="{FF2B5EF4-FFF2-40B4-BE49-F238E27FC236}">
                      <a16:creationId xmlns:a16="http://schemas.microsoft.com/office/drawing/2014/main" id="{2E2DCB22-0057-464E-A272-90A3B300FD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8512" y="1194492"/>
                  <a:ext cx="1503106" cy="1331487"/>
                </a:xfrm>
                <a:prstGeom prst="rect">
                  <a:avLst/>
                </a:prstGeom>
                <a:ln w="12700">
                  <a:noFill/>
                </a:ln>
              </p:spPr>
            </p:pic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B0139259-6B7C-45CE-A135-B7268C558A9B}"/>
                    </a:ext>
                  </a:extLst>
                </p:cNvPr>
                <p:cNvSpPr/>
                <p:nvPr/>
              </p:nvSpPr>
              <p:spPr>
                <a:xfrm>
                  <a:off x="7078512" y="2355858"/>
                  <a:ext cx="305459" cy="14400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b="1" dirty="0"/>
                    <a:t>S1</a:t>
                  </a:r>
                  <a:endParaRPr lang="ko-KR" altLang="en-US" sz="1000" b="1" dirty="0"/>
                </a:p>
              </p:txBody>
            </p:sp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2F6FD333-E705-4BB4-8B1F-F13ADA0CB4B1}"/>
                    </a:ext>
                  </a:extLst>
                </p:cNvPr>
                <p:cNvSpPr/>
                <p:nvPr/>
              </p:nvSpPr>
              <p:spPr>
                <a:xfrm>
                  <a:off x="7078512" y="1378593"/>
                  <a:ext cx="305459" cy="144000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b="1" dirty="0"/>
                    <a:t>S5</a:t>
                  </a:r>
                  <a:endParaRPr lang="ko-KR" altLang="en-US" sz="1000" b="1" dirty="0"/>
                </a:p>
              </p:txBody>
            </p:sp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96ED8FE7-46E9-466C-B08D-01303D2B25AC}"/>
                    </a:ext>
                  </a:extLst>
                </p:cNvPr>
                <p:cNvSpPr/>
                <p:nvPr/>
              </p:nvSpPr>
              <p:spPr>
                <a:xfrm>
                  <a:off x="5579595" y="1199213"/>
                  <a:ext cx="344050" cy="157696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/>
                    <a:t>HPC</a:t>
                  </a:r>
                  <a:endParaRPr lang="ko-KR" altLang="en-US" sz="900" b="1" dirty="0"/>
                </a:p>
              </p:txBody>
            </p:sp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1A8FFC35-4E8B-46BD-8356-C1528E4C9906}"/>
                    </a:ext>
                  </a:extLst>
                </p:cNvPr>
                <p:cNvSpPr/>
                <p:nvPr/>
              </p:nvSpPr>
              <p:spPr>
                <a:xfrm>
                  <a:off x="8126493" y="2294981"/>
                  <a:ext cx="451767" cy="234147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Light</a:t>
                  </a:r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직사각형 99">
                  <a:extLst>
                    <a:ext uri="{FF2B5EF4-FFF2-40B4-BE49-F238E27FC236}">
                      <a16:creationId xmlns:a16="http://schemas.microsoft.com/office/drawing/2014/main" id="{012DF238-520A-4189-A93D-DED066215F4A}"/>
                    </a:ext>
                  </a:extLst>
                </p:cNvPr>
                <p:cNvSpPr/>
                <p:nvPr/>
              </p:nvSpPr>
              <p:spPr>
                <a:xfrm>
                  <a:off x="7078549" y="2108556"/>
                  <a:ext cx="305459" cy="144001"/>
                </a:xfrm>
                <a:prstGeom prst="rect">
                  <a:avLst/>
                </a:prstGeom>
                <a:solidFill>
                  <a:srgbClr val="FFC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b="1" dirty="0"/>
                    <a:t>S2</a:t>
                  </a:r>
                  <a:endParaRPr lang="ko-KR" altLang="en-US" sz="1000" b="1" dirty="0"/>
                </a:p>
              </p:txBody>
            </p:sp>
          </p:grpSp>
          <p:cxnSp>
            <p:nvCxnSpPr>
              <p:cNvPr id="65" name="직선 화살표 연결선 64">
                <a:extLst>
                  <a:ext uri="{FF2B5EF4-FFF2-40B4-BE49-F238E27FC236}">
                    <a16:creationId xmlns:a16="http://schemas.microsoft.com/office/drawing/2014/main" id="{21DB8F5F-FCB1-4C06-B6EB-D48254528A72}"/>
                  </a:ext>
                </a:extLst>
              </p:cNvPr>
              <p:cNvCxnSpPr>
                <a:cxnSpLocks/>
                <a:stCxn id="70" idx="1"/>
              </p:cNvCxnSpPr>
              <p:nvPr/>
            </p:nvCxnSpPr>
            <p:spPr>
              <a:xfrm flipH="1">
                <a:off x="10156390" y="2517217"/>
                <a:ext cx="391099" cy="369418"/>
              </a:xfrm>
              <a:prstGeom prst="straightConnector1">
                <a:avLst/>
              </a:prstGeom>
              <a:ln w="28575">
                <a:noFill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DC24399-4F08-4818-8C19-5909981855E1}"/>
                </a:ext>
              </a:extLst>
            </p:cNvPr>
            <p:cNvSpPr txBox="1"/>
            <p:nvPr/>
          </p:nvSpPr>
          <p:spPr bwMode="auto">
            <a:xfrm>
              <a:off x="1836320" y="612298"/>
              <a:ext cx="6247321" cy="698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b="1" dirty="0">
                  <a:latin typeface="Helvetica" panose="020B0604020202020204" pitchFamily="34" charset="0"/>
                  <a:cs typeface="Helvetica" panose="020B0604020202020204" pitchFamily="34" charset="0"/>
                  <a:sym typeface="Wingdings" panose="05000000000000000000" pitchFamily="2" charset="2"/>
                </a:rPr>
                <a:t>Targeted recording </a:t>
              </a:r>
              <a:r>
                <a:rPr lang="en-US" altLang="ko-KR" sz="1400" dirty="0">
                  <a:latin typeface="Helvetica" panose="020B0604020202020204" pitchFamily="34" charset="0"/>
                  <a:cs typeface="Helvetica" panose="020B0604020202020204" pitchFamily="34" charset="0"/>
                  <a:sym typeface="Wingdings" panose="05000000000000000000" pitchFamily="2" charset="2"/>
                </a:rPr>
                <a:t>from ventral HPC (CA1 w/ Schaffer collateral stim.)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>
                  <a:latin typeface="Helvetica" panose="020B0604020202020204" pitchFamily="34" charset="0"/>
                  <a:cs typeface="Helvetica" panose="020B0604020202020204" pitchFamily="34" charset="0"/>
                  <a:sym typeface="Wingdings" panose="05000000000000000000" pitchFamily="2" charset="2"/>
                </a:rPr>
                <a:t>330 </a:t>
              </a:r>
              <a:r>
                <a:rPr lang="el-GR" altLang="ko-KR" sz="1400" dirty="0">
                  <a:latin typeface="Helvetica" panose="020B0604020202020204" pitchFamily="34" charset="0"/>
                  <a:cs typeface="Helvetica" panose="020B0604020202020204" pitchFamily="34" charset="0"/>
                  <a:sym typeface="Wingdings" panose="05000000000000000000" pitchFamily="2" charset="2"/>
                </a:rPr>
                <a:t>μ</a:t>
              </a:r>
              <a:r>
                <a:rPr lang="en-US" altLang="ko-KR" sz="1400" dirty="0">
                  <a:latin typeface="Helvetica" panose="020B0604020202020204" pitchFamily="34" charset="0"/>
                  <a:cs typeface="Helvetica" panose="020B0604020202020204" pitchFamily="34" charset="0"/>
                  <a:sym typeface="Wingdings" panose="05000000000000000000" pitchFamily="2" charset="2"/>
                </a:rPr>
                <a:t>m</a:t>
              </a:r>
              <a:r>
                <a:rPr lang="ko-KR" altLang="en-US" sz="1400" dirty="0">
                  <a:latin typeface="Helvetica" panose="020B0604020202020204" pitchFamily="34" charset="0"/>
                  <a:cs typeface="Helvetica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ko-KR" sz="1400" dirty="0">
                  <a:latin typeface="Helvetica" panose="020B0604020202020204" pitchFamily="34" charset="0"/>
                  <a:cs typeface="Helvetica" panose="020B0604020202020204" pitchFamily="34" charset="0"/>
                  <a:sym typeface="Wingdings" panose="05000000000000000000" pitchFamily="2" charset="2"/>
                </a:rPr>
                <a:t>thick hippocampal slice (Thy1-ChR2-YFP)</a:t>
              </a:r>
            </a:p>
          </p:txBody>
        </p:sp>
        <p:sp>
          <p:nvSpPr>
            <p:cNvPr id="91" name="Title 1">
              <a:extLst>
                <a:ext uri="{FF2B5EF4-FFF2-40B4-BE49-F238E27FC236}">
                  <a16:creationId xmlns:a16="http://schemas.microsoft.com/office/drawing/2014/main" id="{160F0338-057D-4694-B591-BEA813B8A02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729206" y="161026"/>
              <a:ext cx="8794938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 kern="1200">
                  <a:solidFill>
                    <a:srgbClr val="000099"/>
                  </a:solidFill>
                  <a:latin typeface="Myriad Pro" panose="020B0503030403020204" pitchFamily="34" charset="0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000099"/>
                  </a:solidFill>
                  <a:latin typeface="Helvetica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000099"/>
                  </a:solidFill>
                  <a:latin typeface="Helvetica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000099"/>
                  </a:solidFill>
                  <a:latin typeface="Helvetica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000099"/>
                  </a:solidFill>
                  <a:latin typeface="Helvetica" pitchFamily="34" charset="0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altLang="ko-KR" sz="2000" dirty="0">
                  <a:latin typeface="Arial" panose="020B0604020202020204" pitchFamily="34" charset="0"/>
                  <a:ea typeface="굴림" pitchFamily="50" charset="-127"/>
                  <a:cs typeface="Arial" panose="020B0604020202020204" pitchFamily="34" charset="0"/>
                </a:rPr>
                <a:t>Validation of precise targeting capacity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6D08F27-6C07-48BC-89B1-63D8AC6ED298}"/>
                </a:ext>
              </a:extLst>
            </p:cNvPr>
            <p:cNvGrpSpPr/>
            <p:nvPr/>
          </p:nvGrpSpPr>
          <p:grpSpPr>
            <a:xfrm rot="10800000">
              <a:off x="5726977" y="5257779"/>
              <a:ext cx="4680000" cy="1302996"/>
              <a:chOff x="4202977" y="5284674"/>
              <a:chExt cx="4680000" cy="1302996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DE484C16-7173-45D2-B3DF-15DB1461B7A9}"/>
                  </a:ext>
                </a:extLst>
              </p:cNvPr>
              <p:cNvGrpSpPr/>
              <p:nvPr/>
            </p:nvGrpSpPr>
            <p:grpSpPr>
              <a:xfrm rot="16200000">
                <a:off x="5891479" y="3596172"/>
                <a:ext cx="1302996" cy="4680000"/>
                <a:chOff x="-364016" y="904384"/>
                <a:chExt cx="839974" cy="3790287"/>
              </a:xfrm>
            </p:grpSpPr>
            <p:grpSp>
              <p:nvGrpSpPr>
                <p:cNvPr id="80" name="그룹 79">
                  <a:extLst>
                    <a:ext uri="{FF2B5EF4-FFF2-40B4-BE49-F238E27FC236}">
                      <a16:creationId xmlns:a16="http://schemas.microsoft.com/office/drawing/2014/main" id="{4E84D1AE-C280-47D2-81A2-14C6CFE3C4AC}"/>
                    </a:ext>
                  </a:extLst>
                </p:cNvPr>
                <p:cNvGrpSpPr/>
                <p:nvPr/>
              </p:nvGrpSpPr>
              <p:grpSpPr>
                <a:xfrm rot="5400000">
                  <a:off x="-1839173" y="2379541"/>
                  <a:ext cx="3790287" cy="839974"/>
                  <a:chOff x="-818966" y="5760271"/>
                  <a:chExt cx="6493703" cy="2076814"/>
                </a:xfrm>
              </p:grpSpPr>
              <p:pic>
                <p:nvPicPr>
                  <p:cNvPr id="88" name="그림 87" descr="전면, 대형, 보트, 다른이(가) 표시된 사진&#10;&#10;자동 생성된 설명">
                    <a:extLst>
                      <a:ext uri="{FF2B5EF4-FFF2-40B4-BE49-F238E27FC236}">
                        <a16:creationId xmlns:a16="http://schemas.microsoft.com/office/drawing/2014/main" id="{117F0BF7-FC90-4F8E-8428-21FE1A5EBA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 l="5792" t="18199" r="10392" b="10826"/>
                  <a:stretch/>
                </p:blipFill>
                <p:spPr>
                  <a:xfrm>
                    <a:off x="2404764" y="5760275"/>
                    <a:ext cx="3269973" cy="2076810"/>
                  </a:xfrm>
                  <a:prstGeom prst="rect">
                    <a:avLst/>
                  </a:prstGeom>
                </p:spPr>
              </p:pic>
              <p:pic>
                <p:nvPicPr>
                  <p:cNvPr id="89" name="그림 88" descr="전면, 앉아있는, 다른, 대형이(가) 표시된 사진&#10;&#10;자동 생성된 설명">
                    <a:extLst>
                      <a:ext uri="{FF2B5EF4-FFF2-40B4-BE49-F238E27FC236}">
                        <a16:creationId xmlns:a16="http://schemas.microsoft.com/office/drawing/2014/main" id="{18C827EA-8BAD-46CC-B7B0-D2930AC17B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 l="9303" t="18199" r="3316" b="10826"/>
                  <a:stretch/>
                </p:blipFill>
                <p:spPr>
                  <a:xfrm>
                    <a:off x="-818966" y="5760271"/>
                    <a:ext cx="3409123" cy="207680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7783BDB2-563A-4117-B672-DA93C88D2E7E}"/>
                    </a:ext>
                  </a:extLst>
                </p:cNvPr>
                <p:cNvSpPr/>
                <p:nvPr/>
              </p:nvSpPr>
              <p:spPr>
                <a:xfrm rot="16200000">
                  <a:off x="195145" y="1617469"/>
                  <a:ext cx="386990" cy="118828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/>
                    <a:t>S2</a:t>
                  </a:r>
                  <a:endParaRPr lang="ko-KR" altLang="en-US" sz="1200" b="1" dirty="0"/>
                </a:p>
              </p:txBody>
            </p:sp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93F84EB6-1EB7-47FD-894C-C5A1EFA8A199}"/>
                    </a:ext>
                  </a:extLst>
                </p:cNvPr>
                <p:cNvSpPr/>
                <p:nvPr/>
              </p:nvSpPr>
              <p:spPr>
                <a:xfrm rot="16200000">
                  <a:off x="195119" y="2999509"/>
                  <a:ext cx="386990" cy="118828"/>
                </a:xfrm>
                <a:prstGeom prst="rect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/>
                    <a:t>S5</a:t>
                  </a:r>
                  <a:endParaRPr lang="ko-KR" altLang="en-US" sz="1200" b="1" dirty="0"/>
                </a:p>
              </p:txBody>
            </p:sp>
          </p:grp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DAD3872F-0D08-4284-BE50-CF9B8D12E591}"/>
                  </a:ext>
                </a:extLst>
              </p:cNvPr>
              <p:cNvSpPr/>
              <p:nvPr/>
            </p:nvSpPr>
            <p:spPr>
              <a:xfrm rot="10800000">
                <a:off x="4342032" y="5327963"/>
                <a:ext cx="477830" cy="18433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S1</a:t>
                </a:r>
                <a:endParaRPr lang="ko-KR" altLang="en-US" sz="1200" b="1" dirty="0"/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3090F59D-3FBA-4296-8DD5-FDD9982F3B17}"/>
                </a:ext>
              </a:extLst>
            </p:cNvPr>
            <p:cNvGrpSpPr/>
            <p:nvPr/>
          </p:nvGrpSpPr>
          <p:grpSpPr>
            <a:xfrm>
              <a:off x="1931675" y="1342442"/>
              <a:ext cx="5936121" cy="3738885"/>
              <a:chOff x="407674" y="1369336"/>
              <a:chExt cx="5936121" cy="3738885"/>
            </a:xfrm>
          </p:grpSpPr>
          <p:pic>
            <p:nvPicPr>
              <p:cNvPr id="29" name="그림 28" descr="주차이(가) 표시된 사진&#10;&#10;자동 생성된 설명">
                <a:extLst>
                  <a:ext uri="{FF2B5EF4-FFF2-40B4-BE49-F238E27FC236}">
                    <a16:creationId xmlns:a16="http://schemas.microsoft.com/office/drawing/2014/main" id="{6E9035F6-C132-4211-A025-7180A4D4F1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1239" t="18940" r="23791" b="8446"/>
              <a:stretch/>
            </p:blipFill>
            <p:spPr>
              <a:xfrm>
                <a:off x="1027784" y="1759240"/>
                <a:ext cx="5316011" cy="3348981"/>
              </a:xfrm>
              <a:prstGeom prst="rect">
                <a:avLst/>
              </a:prstGeom>
            </p:spPr>
          </p:pic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BD62E3F3-2CCE-439D-BB48-0D57241E8370}"/>
                  </a:ext>
                </a:extLst>
              </p:cNvPr>
              <p:cNvGrpSpPr/>
              <p:nvPr/>
            </p:nvGrpSpPr>
            <p:grpSpPr>
              <a:xfrm>
                <a:off x="1628219" y="1369336"/>
                <a:ext cx="4600219" cy="3622302"/>
                <a:chOff x="2170913" y="858123"/>
                <a:chExt cx="4600219" cy="3627207"/>
              </a:xfrm>
            </p:grpSpPr>
            <p:grpSp>
              <p:nvGrpSpPr>
                <p:cNvPr id="4" name="그룹 3">
                  <a:extLst>
                    <a:ext uri="{FF2B5EF4-FFF2-40B4-BE49-F238E27FC236}">
                      <a16:creationId xmlns:a16="http://schemas.microsoft.com/office/drawing/2014/main" id="{4238EFB0-25AA-475F-8427-4241C3E4B79E}"/>
                    </a:ext>
                  </a:extLst>
                </p:cNvPr>
                <p:cNvGrpSpPr/>
                <p:nvPr/>
              </p:nvGrpSpPr>
              <p:grpSpPr>
                <a:xfrm>
                  <a:off x="2415942" y="1280024"/>
                  <a:ext cx="4335784" cy="3205306"/>
                  <a:chOff x="1902443" y="685391"/>
                  <a:chExt cx="5403570" cy="3593770"/>
                </a:xfrm>
              </p:grpSpPr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4E41502B-AF6D-41E3-9275-8FF476B3F729}"/>
                      </a:ext>
                    </a:extLst>
                  </p:cNvPr>
                  <p:cNvSpPr/>
                  <p:nvPr/>
                </p:nvSpPr>
                <p:spPr>
                  <a:xfrm>
                    <a:off x="1902443" y="688802"/>
                    <a:ext cx="148941" cy="3590359"/>
                  </a:xfrm>
                  <a:prstGeom prst="rect">
                    <a:avLst/>
                  </a:prstGeom>
                  <a:solidFill>
                    <a:srgbClr val="FD0FD0">
                      <a:alpha val="25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n>
                        <a:solidFill>
                          <a:srgbClr val="0000FF"/>
                        </a:solidFill>
                      </a:ln>
                      <a:noFill/>
                    </a:endParaRPr>
                  </a:p>
                </p:txBody>
              </p:sp>
              <p:sp>
                <p:nvSpPr>
                  <p:cNvPr id="24" name="직사각형 23">
                    <a:extLst>
                      <a:ext uri="{FF2B5EF4-FFF2-40B4-BE49-F238E27FC236}">
                        <a16:creationId xmlns:a16="http://schemas.microsoft.com/office/drawing/2014/main" id="{72CC23BC-C7A7-4302-A827-85D0B704F409}"/>
                      </a:ext>
                    </a:extLst>
                  </p:cNvPr>
                  <p:cNvSpPr/>
                  <p:nvPr/>
                </p:nvSpPr>
                <p:spPr>
                  <a:xfrm>
                    <a:off x="4020913" y="685391"/>
                    <a:ext cx="653960" cy="3593770"/>
                  </a:xfrm>
                  <a:prstGeom prst="rect">
                    <a:avLst/>
                  </a:prstGeom>
                  <a:solidFill>
                    <a:srgbClr val="FD0FD0">
                      <a:alpha val="25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n>
                        <a:solidFill>
                          <a:srgbClr val="0000FF"/>
                        </a:solidFill>
                      </a:ln>
                      <a:noFill/>
                    </a:endParaRPr>
                  </a:p>
                </p:txBody>
              </p:sp>
              <p:sp>
                <p:nvSpPr>
                  <p:cNvPr id="25" name="직사각형 24">
                    <a:extLst>
                      <a:ext uri="{FF2B5EF4-FFF2-40B4-BE49-F238E27FC236}">
                        <a16:creationId xmlns:a16="http://schemas.microsoft.com/office/drawing/2014/main" id="{5107EC2B-0F90-4542-9F58-722AF7828CA7}"/>
                      </a:ext>
                    </a:extLst>
                  </p:cNvPr>
                  <p:cNvSpPr/>
                  <p:nvPr/>
                </p:nvSpPr>
                <p:spPr>
                  <a:xfrm>
                    <a:off x="5336483" y="685391"/>
                    <a:ext cx="653960" cy="3593770"/>
                  </a:xfrm>
                  <a:prstGeom prst="rect">
                    <a:avLst/>
                  </a:prstGeom>
                  <a:solidFill>
                    <a:srgbClr val="FD0FD0">
                      <a:alpha val="25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n>
                        <a:solidFill>
                          <a:srgbClr val="0000FF"/>
                        </a:solidFill>
                      </a:ln>
                      <a:noFill/>
                    </a:endParaRPr>
                  </a:p>
                </p:txBody>
              </p:sp>
              <p:sp>
                <p:nvSpPr>
                  <p:cNvPr id="26" name="직사각형 25">
                    <a:extLst>
                      <a:ext uri="{FF2B5EF4-FFF2-40B4-BE49-F238E27FC236}">
                        <a16:creationId xmlns:a16="http://schemas.microsoft.com/office/drawing/2014/main" id="{F9859388-06F1-4012-B701-75E28554F243}"/>
                      </a:ext>
                    </a:extLst>
                  </p:cNvPr>
                  <p:cNvSpPr/>
                  <p:nvPr/>
                </p:nvSpPr>
                <p:spPr>
                  <a:xfrm>
                    <a:off x="6652053" y="685391"/>
                    <a:ext cx="653960" cy="3593770"/>
                  </a:xfrm>
                  <a:prstGeom prst="rect">
                    <a:avLst/>
                  </a:prstGeom>
                  <a:solidFill>
                    <a:srgbClr val="FD0FD0">
                      <a:alpha val="25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n>
                        <a:solidFill>
                          <a:srgbClr val="0000FF"/>
                        </a:solidFill>
                      </a:ln>
                      <a:noFill/>
                    </a:endParaRPr>
                  </a:p>
                </p:txBody>
              </p:sp>
              <p:sp>
                <p:nvSpPr>
                  <p:cNvPr id="52" name="직사각형 51">
                    <a:extLst>
                      <a:ext uri="{FF2B5EF4-FFF2-40B4-BE49-F238E27FC236}">
                        <a16:creationId xmlns:a16="http://schemas.microsoft.com/office/drawing/2014/main" id="{8BE4594D-7A59-44B8-8E69-6378A7B14692}"/>
                      </a:ext>
                    </a:extLst>
                  </p:cNvPr>
                  <p:cNvSpPr/>
                  <p:nvPr/>
                </p:nvSpPr>
                <p:spPr>
                  <a:xfrm>
                    <a:off x="2705344" y="685391"/>
                    <a:ext cx="653960" cy="3593770"/>
                  </a:xfrm>
                  <a:prstGeom prst="rect">
                    <a:avLst/>
                  </a:prstGeom>
                  <a:solidFill>
                    <a:srgbClr val="FD0FD0">
                      <a:alpha val="25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n>
                        <a:solidFill>
                          <a:srgbClr val="0000FF"/>
                        </a:solidFill>
                      </a:ln>
                      <a:noFill/>
                    </a:endParaRPr>
                  </a:p>
                </p:txBody>
              </p:sp>
            </p:grp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645B8AE-ED67-4647-AEFF-46F06A67F960}"/>
                    </a:ext>
                  </a:extLst>
                </p:cNvPr>
                <p:cNvSpPr txBox="1"/>
                <p:nvPr/>
              </p:nvSpPr>
              <p:spPr bwMode="auto">
                <a:xfrm>
                  <a:off x="6181931" y="883223"/>
                  <a:ext cx="589201" cy="37606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400" b="1" dirty="0">
                      <a:solidFill>
                        <a:srgbClr val="FF0000"/>
                      </a:solidFill>
                    </a:rPr>
                    <a:t>ON</a:t>
                  </a:r>
                  <a:endParaRPr lang="ko-KR" altLang="en-US" sz="1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F660ACC-9424-4F10-B31E-40CC07E7CE93}"/>
                    </a:ext>
                  </a:extLst>
                </p:cNvPr>
                <p:cNvSpPr txBox="1"/>
                <p:nvPr/>
              </p:nvSpPr>
              <p:spPr bwMode="auto">
                <a:xfrm>
                  <a:off x="5150384" y="858123"/>
                  <a:ext cx="589201" cy="37606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400" b="1" dirty="0">
                      <a:solidFill>
                        <a:srgbClr val="FF0000"/>
                      </a:solidFill>
                    </a:rPr>
                    <a:t>ON</a:t>
                  </a:r>
                  <a:endParaRPr lang="ko-KR" altLang="en-US" sz="1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AFC791-B274-44B3-BBF7-4B0BF6261EE1}"/>
                    </a:ext>
                  </a:extLst>
                </p:cNvPr>
                <p:cNvSpPr txBox="1"/>
                <p:nvPr/>
              </p:nvSpPr>
              <p:spPr bwMode="auto">
                <a:xfrm>
                  <a:off x="3018325" y="877859"/>
                  <a:ext cx="589201" cy="37606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400" b="1" dirty="0">
                      <a:solidFill>
                        <a:srgbClr val="FF0000"/>
                      </a:solidFill>
                    </a:rPr>
                    <a:t>ON</a:t>
                  </a:r>
                  <a:endParaRPr lang="ko-KR" altLang="en-US" sz="1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F7EAB24-D267-41BA-9A06-0569BDD080D1}"/>
                    </a:ext>
                  </a:extLst>
                </p:cNvPr>
                <p:cNvSpPr txBox="1"/>
                <p:nvPr/>
              </p:nvSpPr>
              <p:spPr bwMode="auto">
                <a:xfrm>
                  <a:off x="4080775" y="877859"/>
                  <a:ext cx="589201" cy="37606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400" b="1" dirty="0">
                      <a:solidFill>
                        <a:srgbClr val="FF0000"/>
                      </a:solidFill>
                    </a:rPr>
                    <a:t>ON</a:t>
                  </a:r>
                  <a:endParaRPr lang="ko-KR" altLang="en-US" sz="1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B9EBE1E-3FF9-4CC2-83D3-CD0D8B0EFF6D}"/>
                    </a:ext>
                  </a:extLst>
                </p:cNvPr>
                <p:cNvSpPr txBox="1"/>
                <p:nvPr/>
              </p:nvSpPr>
              <p:spPr bwMode="auto">
                <a:xfrm>
                  <a:off x="2170913" y="883223"/>
                  <a:ext cx="589201" cy="37606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400" b="1" dirty="0">
                      <a:solidFill>
                        <a:srgbClr val="FF0000"/>
                      </a:solidFill>
                    </a:rPr>
                    <a:t>ON</a:t>
                  </a:r>
                  <a:endParaRPr lang="ko-KR" altLang="en-US" sz="1400" b="1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6C21AC0C-0E2F-467C-B4E7-504035755881}"/>
                  </a:ext>
                </a:extLst>
              </p:cNvPr>
              <p:cNvSpPr/>
              <p:nvPr/>
            </p:nvSpPr>
            <p:spPr>
              <a:xfrm>
                <a:off x="407676" y="1798977"/>
                <a:ext cx="477830" cy="982323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S1</a:t>
                </a:r>
                <a:endParaRPr lang="ko-KR" altLang="en-US" sz="1200" b="1" dirty="0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4CE9CD4D-917C-49CA-9136-76C68E08A77C}"/>
                  </a:ext>
                </a:extLst>
              </p:cNvPr>
              <p:cNvSpPr/>
              <p:nvPr/>
            </p:nvSpPr>
            <p:spPr>
              <a:xfrm>
                <a:off x="407676" y="2781300"/>
                <a:ext cx="477830" cy="6885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S2</a:t>
                </a:r>
                <a:endParaRPr lang="ko-KR" altLang="en-US" sz="1200" b="1" dirty="0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05BB6705-86E6-4D3B-8483-E45DEEC92E07}"/>
                  </a:ext>
                </a:extLst>
              </p:cNvPr>
              <p:cNvSpPr/>
              <p:nvPr/>
            </p:nvSpPr>
            <p:spPr>
              <a:xfrm>
                <a:off x="407676" y="3469800"/>
                <a:ext cx="477830" cy="1508495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S5</a:t>
                </a:r>
                <a:endParaRPr lang="ko-KR" altLang="en-US" sz="1200" b="1" dirty="0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53D0F3F9-2D49-40F3-80D3-71B90542D3C6}"/>
                  </a:ext>
                </a:extLst>
              </p:cNvPr>
              <p:cNvSpPr/>
              <p:nvPr/>
            </p:nvSpPr>
            <p:spPr>
              <a:xfrm>
                <a:off x="407674" y="1405117"/>
                <a:ext cx="740137" cy="354123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Light</a:t>
                </a:r>
                <a:endParaRPr lang="ko-KR" alt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76792FD-4DE9-44DF-9F76-F53B0AE2D1E4}"/>
                </a:ext>
              </a:extLst>
            </p:cNvPr>
            <p:cNvGrpSpPr/>
            <p:nvPr/>
          </p:nvGrpSpPr>
          <p:grpSpPr>
            <a:xfrm>
              <a:off x="8194785" y="1025025"/>
              <a:ext cx="2169603" cy="1652356"/>
              <a:chOff x="6624347" y="1797634"/>
              <a:chExt cx="2169603" cy="1652356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F4A7F4FB-DE96-4CD7-8D8E-1AD683AFA9C9}"/>
                  </a:ext>
                </a:extLst>
              </p:cNvPr>
              <p:cNvGrpSpPr/>
              <p:nvPr/>
            </p:nvGrpSpPr>
            <p:grpSpPr>
              <a:xfrm>
                <a:off x="6624347" y="1797634"/>
                <a:ext cx="2169603" cy="1652356"/>
                <a:chOff x="3719421" y="4838806"/>
                <a:chExt cx="2520000" cy="1818230"/>
              </a:xfrm>
            </p:grpSpPr>
            <p:pic>
              <p:nvPicPr>
                <p:cNvPr id="31" name="그림 30" descr="연필이(가) 표시된 사진&#10;&#10;자동 생성된 설명">
                  <a:extLst>
                    <a:ext uri="{FF2B5EF4-FFF2-40B4-BE49-F238E27FC236}">
                      <a16:creationId xmlns:a16="http://schemas.microsoft.com/office/drawing/2014/main" id="{74D4F195-D508-4DF2-9721-F56579DD1A5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7756" t="54222" r="8472" b="4889"/>
                <a:stretch/>
              </p:blipFill>
              <p:spPr>
                <a:xfrm>
                  <a:off x="3719421" y="4857036"/>
                  <a:ext cx="2520000" cy="1800000"/>
                </a:xfrm>
                <a:prstGeom prst="rect">
                  <a:avLst/>
                </a:prstGeom>
              </p:spPr>
            </p:pic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4CF705E9-438D-44AA-B49B-1BC4F6F1FB51}"/>
                    </a:ext>
                  </a:extLst>
                </p:cNvPr>
                <p:cNvSpPr/>
                <p:nvPr/>
              </p:nvSpPr>
              <p:spPr>
                <a:xfrm>
                  <a:off x="5023437" y="4838806"/>
                  <a:ext cx="1170000" cy="1541508"/>
                </a:xfrm>
                <a:prstGeom prst="rect">
                  <a:avLst/>
                </a:prstGeom>
                <a:solidFill>
                  <a:srgbClr val="FD0FD0">
                    <a:alpha val="2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n>
                      <a:solidFill>
                        <a:srgbClr val="0000FF"/>
                      </a:solidFill>
                    </a:ln>
                    <a:noFill/>
                  </a:endParaRPr>
                </a:p>
              </p:txBody>
            </p:sp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5E7D1FC-6444-4701-A207-CA223BD6A7C6}"/>
                  </a:ext>
                </a:extLst>
              </p:cNvPr>
              <p:cNvSpPr txBox="1"/>
              <p:nvPr/>
            </p:nvSpPr>
            <p:spPr bwMode="auto">
              <a:xfrm>
                <a:off x="6946277" y="2351205"/>
                <a:ext cx="660439" cy="3755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400" b="1" dirty="0">
                    <a:solidFill>
                      <a:srgbClr val="0000FF"/>
                    </a:solidFill>
                  </a:rPr>
                  <a:t>OFF</a:t>
                </a:r>
                <a:endParaRPr lang="ko-KR" altLang="en-US" sz="1400" b="1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FD93461-45D8-49B6-81A5-99F3D77A9095}"/>
                  </a:ext>
                </a:extLst>
              </p:cNvPr>
              <p:cNvSpPr txBox="1"/>
              <p:nvPr/>
            </p:nvSpPr>
            <p:spPr bwMode="auto">
              <a:xfrm>
                <a:off x="7953845" y="2352811"/>
                <a:ext cx="589201" cy="375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400" b="1" dirty="0">
                    <a:solidFill>
                      <a:srgbClr val="FF0000"/>
                    </a:solidFill>
                  </a:rPr>
                  <a:t>ON</a:t>
                </a:r>
                <a:endParaRPr lang="ko-KR" altLang="en-US" sz="14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69BBA5A4-53E1-4240-B7E9-9C47F45E6CA4}"/>
                </a:ext>
              </a:extLst>
            </p:cNvPr>
            <p:cNvGrpSpPr/>
            <p:nvPr/>
          </p:nvGrpSpPr>
          <p:grpSpPr>
            <a:xfrm>
              <a:off x="8040418" y="2887740"/>
              <a:ext cx="2376457" cy="2196653"/>
              <a:chOff x="6486073" y="3066364"/>
              <a:chExt cx="2376457" cy="2196653"/>
            </a:xfrm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D944A54A-9A5A-4A4B-BA81-1F364ED9CD8A}"/>
                  </a:ext>
                </a:extLst>
              </p:cNvPr>
              <p:cNvGrpSpPr/>
              <p:nvPr/>
            </p:nvGrpSpPr>
            <p:grpSpPr>
              <a:xfrm>
                <a:off x="6486073" y="3066364"/>
                <a:ext cx="2376457" cy="1893185"/>
                <a:chOff x="6575494" y="3076524"/>
                <a:chExt cx="2226076" cy="1893185"/>
              </a:xfrm>
            </p:grpSpPr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F2EEC0DB-B01D-48CF-88FA-C0BD502F5287}"/>
                    </a:ext>
                  </a:extLst>
                </p:cNvPr>
                <p:cNvGrpSpPr/>
                <p:nvPr/>
              </p:nvGrpSpPr>
              <p:grpSpPr>
                <a:xfrm>
                  <a:off x="6575494" y="3354631"/>
                  <a:ext cx="2226076" cy="1615078"/>
                  <a:chOff x="6757606" y="3379269"/>
                  <a:chExt cx="1963393" cy="1572147"/>
                </a:xfrm>
              </p:grpSpPr>
              <p:pic>
                <p:nvPicPr>
                  <p:cNvPr id="33" name="그림 32" descr="텍스트이(가) 표시된 사진&#10;&#10;자동 생성된 설명">
                    <a:extLst>
                      <a:ext uri="{FF2B5EF4-FFF2-40B4-BE49-F238E27FC236}">
                        <a16:creationId xmlns:a16="http://schemas.microsoft.com/office/drawing/2014/main" id="{5C95737D-75EF-4C39-AED4-FE586B3F00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 l="3798" t="4318" r="8558" b="5889"/>
                  <a:stretch/>
                </p:blipFill>
                <p:spPr>
                  <a:xfrm>
                    <a:off x="6757606" y="3442780"/>
                    <a:ext cx="1963393" cy="1508636"/>
                  </a:xfrm>
                  <a:prstGeom prst="rect">
                    <a:avLst/>
                  </a:prstGeom>
                </p:spPr>
              </p:pic>
              <p:grpSp>
                <p:nvGrpSpPr>
                  <p:cNvPr id="15" name="그룹 14">
                    <a:extLst>
                      <a:ext uri="{FF2B5EF4-FFF2-40B4-BE49-F238E27FC236}">
                        <a16:creationId xmlns:a16="http://schemas.microsoft.com/office/drawing/2014/main" id="{DE40F94C-DBEB-4257-96B2-55C543F4C755}"/>
                      </a:ext>
                    </a:extLst>
                  </p:cNvPr>
                  <p:cNvGrpSpPr/>
                  <p:nvPr/>
                </p:nvGrpSpPr>
                <p:grpSpPr>
                  <a:xfrm>
                    <a:off x="7517344" y="3379269"/>
                    <a:ext cx="510540" cy="442216"/>
                    <a:chOff x="3321554" y="4652766"/>
                    <a:chExt cx="745200" cy="476385"/>
                  </a:xfrm>
                </p:grpSpPr>
                <p:cxnSp>
                  <p:nvCxnSpPr>
                    <p:cNvPr id="77" name="직선 연결선 76">
                      <a:extLst>
                        <a:ext uri="{FF2B5EF4-FFF2-40B4-BE49-F238E27FC236}">
                          <a16:creationId xmlns:a16="http://schemas.microsoft.com/office/drawing/2014/main" id="{D81B2A46-A70E-457F-AB7D-623AF344A7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321554" y="4960620"/>
                      <a:ext cx="74520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2F03C74B-A527-473E-8B37-DA109DF331D1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3589524" y="4652766"/>
                      <a:ext cx="190500" cy="47638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*</a:t>
                      </a:r>
                      <a:endParaRPr lang="ko-KR" altLang="en-US" dirty="0"/>
                    </a:p>
                  </p:txBody>
                </p:sp>
              </p:grp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4FE5992-96F6-45FD-B45F-76442C494CCE}"/>
                    </a:ext>
                  </a:extLst>
                </p:cNvPr>
                <p:cNvSpPr txBox="1"/>
                <p:nvPr/>
              </p:nvSpPr>
              <p:spPr bwMode="auto">
                <a:xfrm>
                  <a:off x="6984589" y="3087390"/>
                  <a:ext cx="660439" cy="3755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400" b="1" dirty="0">
                      <a:solidFill>
                        <a:srgbClr val="0000FF"/>
                      </a:solidFill>
                    </a:rPr>
                    <a:t>OFF</a:t>
                  </a:r>
                  <a:endParaRPr lang="ko-KR" altLang="en-US" sz="1400" b="1" dirty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CFE6E646-16CD-4C39-A59B-523979ABF034}"/>
                    </a:ext>
                  </a:extLst>
                </p:cNvPr>
                <p:cNvSpPr txBox="1"/>
                <p:nvPr/>
              </p:nvSpPr>
              <p:spPr bwMode="auto">
                <a:xfrm>
                  <a:off x="8015723" y="3076524"/>
                  <a:ext cx="589201" cy="3755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400" b="1" dirty="0">
                      <a:solidFill>
                        <a:srgbClr val="FF0000"/>
                      </a:solidFill>
                    </a:rPr>
                    <a:t>ON</a:t>
                  </a:r>
                  <a:endParaRPr lang="ko-KR" altLang="en-US" sz="1400" b="1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6CA2608-8750-4047-B33C-3AFC8E9AB02F}"/>
                  </a:ext>
                </a:extLst>
              </p:cNvPr>
              <p:cNvSpPr txBox="1"/>
              <p:nvPr/>
            </p:nvSpPr>
            <p:spPr bwMode="auto">
              <a:xfrm>
                <a:off x="6782633" y="4887465"/>
                <a:ext cx="1977639" cy="375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400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Firing rate</a:t>
                </a:r>
              </a:p>
            </p:txBody>
          </p:sp>
        </p:grp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A1D78F4E-1ABA-4A2E-BC0E-1974DECF705B}"/>
                </a:ext>
              </a:extLst>
            </p:cNvPr>
            <p:cNvCxnSpPr>
              <a:cxnSpLocks/>
              <a:stCxn id="70" idx="1"/>
            </p:cNvCxnSpPr>
            <p:nvPr/>
          </p:nvCxnSpPr>
          <p:spPr>
            <a:xfrm flipH="1" flipV="1">
              <a:off x="4690642" y="6443741"/>
              <a:ext cx="435258" cy="3964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5984659-FF3D-4B28-BE5A-91DD90274E6B}"/>
                </a:ext>
              </a:extLst>
            </p:cNvPr>
            <p:cNvSpPr txBox="1"/>
            <p:nvPr/>
          </p:nvSpPr>
          <p:spPr bwMode="auto">
            <a:xfrm>
              <a:off x="8368682" y="2554847"/>
              <a:ext cx="1977639" cy="375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Helvetica" panose="020B0604020202020204" pitchFamily="34" charset="0"/>
                  <a:cs typeface="Helvetica" panose="020B0604020202020204" pitchFamily="34" charset="0"/>
                  <a:sym typeface="Wingdings" panose="05000000000000000000" pitchFamily="2" charset="2"/>
                </a:rPr>
                <a:t>Raster plot</a:t>
              </a:r>
            </a:p>
          </p:txBody>
        </p:sp>
      </p:grpSp>
      <p:sp>
        <p:nvSpPr>
          <p:cNvPr id="73" name="제목 1">
            <a:extLst>
              <a:ext uri="{FF2B5EF4-FFF2-40B4-BE49-F238E27FC236}">
                <a16:creationId xmlns:a16="http://schemas.microsoft.com/office/drawing/2014/main" id="{11BE13D2-00F7-484B-A986-8FF5D33D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2191991" cy="87320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Brain slice electrophysiology system</a:t>
            </a:r>
            <a:b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ko-KR" sz="2700" b="1" dirty="0">
                <a:latin typeface="Segoe UI" panose="020B0502040204020203" pitchFamily="34" charset="0"/>
                <a:cs typeface="Segoe UI" panose="020B0502040204020203" pitchFamily="34" charset="0"/>
              </a:rPr>
              <a:t>(Korea Institute of Science and Technology, 2019 – 2020)</a:t>
            </a:r>
            <a:endParaRPr lang="ko-KR" altLang="en-US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49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56D54-5A53-413D-9CED-A207FBE1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2191991" cy="8732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Segregated Polymer Composites Modeling </a:t>
            </a:r>
            <a:b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ko-KR" sz="2700" b="1" dirty="0">
                <a:latin typeface="Segoe UI" panose="020B0502040204020203" pitchFamily="34" charset="0"/>
                <a:cs typeface="Segoe UI" panose="020B0502040204020203" pitchFamily="34" charset="0"/>
              </a:rPr>
              <a:t>(Korea University, 2018 – 2019)</a:t>
            </a:r>
            <a:endParaRPr lang="ko-KR" altLang="en-US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7FFEAD-BAE8-4960-B2D9-7683528F7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8000" y="900000"/>
            <a:ext cx="6120000" cy="5940000"/>
          </a:xfrm>
        </p:spPr>
        <p:txBody>
          <a:bodyPr rIns="180000" numCol="1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Aim: 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to model the </a:t>
            </a:r>
            <a:r>
              <a:rPr lang="en-US" altLang="ko-KR" sz="2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electrical conductance properties of polymer composites with segregated structures</a:t>
            </a:r>
            <a:endParaRPr lang="en-US" altLang="ko-K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Raising microscale fillers percentage – decreases conductivity due to the prevention of the interconnections between CNTs. </a:t>
            </a:r>
          </a:p>
          <a:p>
            <a:pPr>
              <a:lnSpc>
                <a:spcPct val="100000"/>
              </a:lnSpc>
            </a:pP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Raising nanoscale fillers percentage – enhances conductivity</a:t>
            </a:r>
            <a:r>
              <a:rPr lang="en-US" altLang="ko-KR" sz="2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based on exclude volume theory</a:t>
            </a:r>
          </a:p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Our approach: 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simulated the polymer composite in MATLAB and measured the electrical resistivity through Monte Carlo simulation to explain the results using Voronoi geometry and percolation theory</a:t>
            </a:r>
          </a:p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Publication: </a:t>
            </a:r>
            <a:r>
              <a:rPr lang="en-US" altLang="ko-KR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Nature Communications (June, 2019)</a:t>
            </a:r>
          </a:p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My contribution: </a:t>
            </a:r>
            <a:r>
              <a:rPr lang="en-US" altLang="ko-KR" sz="2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built the 3D CNT network simulator and revised the manuscript together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040DEA-A7D4-4BE2-AFE2-540AFDCD909E}"/>
              </a:ext>
            </a:extLst>
          </p:cNvPr>
          <p:cNvCxnSpPr/>
          <p:nvPr/>
        </p:nvCxnSpPr>
        <p:spPr>
          <a:xfrm>
            <a:off x="6284937" y="1536890"/>
            <a:ext cx="0" cy="249834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B6227E3-990C-4D3B-B27F-898AE63D0654}"/>
              </a:ext>
            </a:extLst>
          </p:cNvPr>
          <p:cNvCxnSpPr>
            <a:cxnSpLocks/>
          </p:cNvCxnSpPr>
          <p:nvPr/>
        </p:nvCxnSpPr>
        <p:spPr>
          <a:xfrm flipV="1">
            <a:off x="6284937" y="1817867"/>
            <a:ext cx="0" cy="249834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33CE4079-7B7D-4BB3-9CF1-A035BD9DFB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47" b="835"/>
          <a:stretch/>
        </p:blipFill>
        <p:spPr>
          <a:xfrm>
            <a:off x="92010" y="971995"/>
            <a:ext cx="3742224" cy="58677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129778C-B042-4B1A-958F-D8C1B8D3E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234" y="1039906"/>
            <a:ext cx="2164838" cy="57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63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56D54-5A53-413D-9CED-A207FBE1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2191991" cy="8732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Retinal </a:t>
            </a:r>
            <a:r>
              <a:rPr lang="en-US" altLang="ko-KR" sz="36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Connectomics</a:t>
            </a:r>
            <a: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 Project – </a:t>
            </a:r>
            <a:r>
              <a:rPr lang="en-US" altLang="ko-KR" sz="36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EyeWire</a:t>
            </a:r>
            <a:br>
              <a:rPr lang="en-US" altLang="ko-KR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ko-KR" sz="2700" b="1" dirty="0">
                <a:latin typeface="Segoe UI" panose="020B0502040204020203" pitchFamily="34" charset="0"/>
                <a:cs typeface="Segoe UI" panose="020B0502040204020203" pitchFamily="34" charset="0"/>
              </a:rPr>
              <a:t>(Princeton University, Jan – Feb 2015)</a:t>
            </a:r>
            <a:endParaRPr lang="ko-KR" altLang="en-US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7FFEAD-BAE8-4960-B2D9-7683528F7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8000" y="900000"/>
            <a:ext cx="6120000" cy="5940000"/>
          </a:xfrm>
        </p:spPr>
        <p:txBody>
          <a:bodyPr rIns="180000" numCol="1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Aim: 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en-US" altLang="ko-KR" sz="2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reconstruct 3D models of neurons from electron microscopy (EM) images 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via machine learning and crowd sourcing</a:t>
            </a:r>
          </a:p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Our approach: 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Transform the labeling process of 2D EM images into an entertainment software to data generated by vast online users. </a:t>
            </a:r>
            <a:r>
              <a:rPr lang="en-US" altLang="ko-KR" sz="2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collected user data was used to train the deep convolutional network which classifies retinal cells.</a:t>
            </a:r>
          </a:p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Result: 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mapped structures of over 3000 retinal neurons with the help of 2.7 million participants</a:t>
            </a:r>
          </a:p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Details: </a:t>
            </a:r>
            <a:r>
              <a:rPr lang="en-US" altLang="ko-KR" sz="1800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https://blog.eyewire.org/about/</a:t>
            </a:r>
            <a:endParaRPr lang="en-US" altLang="ko-KR" sz="1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My contribution: </a:t>
            </a:r>
            <a:r>
              <a:rPr lang="en-US" altLang="ko-KR" sz="2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improved the data assessment algorithm 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of the starburst amacrine cell by computing its stratification profile via using a support vector machine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040DEA-A7D4-4BE2-AFE2-540AFDCD909E}"/>
              </a:ext>
            </a:extLst>
          </p:cNvPr>
          <p:cNvCxnSpPr/>
          <p:nvPr/>
        </p:nvCxnSpPr>
        <p:spPr>
          <a:xfrm>
            <a:off x="6284937" y="1536890"/>
            <a:ext cx="0" cy="249834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B6227E3-990C-4D3B-B27F-898AE63D0654}"/>
              </a:ext>
            </a:extLst>
          </p:cNvPr>
          <p:cNvCxnSpPr>
            <a:cxnSpLocks/>
          </p:cNvCxnSpPr>
          <p:nvPr/>
        </p:nvCxnSpPr>
        <p:spPr>
          <a:xfrm flipV="1">
            <a:off x="6284937" y="1817867"/>
            <a:ext cx="0" cy="249834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3EF57CA-F19E-4BB3-A360-6E6510D930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73" t="5937" r="28490" b="28873"/>
          <a:stretch/>
        </p:blipFill>
        <p:spPr>
          <a:xfrm>
            <a:off x="2871943" y="3766294"/>
            <a:ext cx="3083756" cy="27665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A244B8-6357-4E08-9E10-A0B2063CB01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t="24299" r="70" b="5147"/>
          <a:stretch/>
        </p:blipFill>
        <p:spPr>
          <a:xfrm>
            <a:off x="92010" y="1018729"/>
            <a:ext cx="5907061" cy="2524045"/>
          </a:xfrm>
          <a:prstGeom prst="rect">
            <a:avLst/>
          </a:prstGeom>
        </p:spPr>
      </p:pic>
      <p:pic>
        <p:nvPicPr>
          <p:cNvPr id="7" name="그림 6" descr="지도, 텍스트이(가) 표시된 사진&#10;&#10;자동 생성된 설명">
            <a:extLst>
              <a:ext uri="{FF2B5EF4-FFF2-40B4-BE49-F238E27FC236}">
                <a16:creationId xmlns:a16="http://schemas.microsoft.com/office/drawing/2014/main" id="{CBA407BF-CF1F-42D3-81FA-289BC668FF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639" y="4078525"/>
            <a:ext cx="2663584" cy="199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9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423</Words>
  <Application>Microsoft Office PowerPoint</Application>
  <PresentationFormat>와이드스크린</PresentationFormat>
  <Paragraphs>64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Helvetica</vt:lpstr>
      <vt:lpstr>Segoe UI</vt:lpstr>
      <vt:lpstr>Wingdings</vt:lpstr>
      <vt:lpstr>Office 테마</vt:lpstr>
      <vt:lpstr>PowerPoint 프레젠테이션</vt:lpstr>
      <vt:lpstr>Contents</vt:lpstr>
      <vt:lpstr>Brain slice electrophysiology system (Korea Institute of Science and Technology, 2019 – 2020)</vt:lpstr>
      <vt:lpstr>Brain slice electrophysiology system (Korea Institute of Science and Technology, 2019 – 2020)</vt:lpstr>
      <vt:lpstr>Segregated Polymer Composites Modeling  (Korea University, 2018 – 2019)</vt:lpstr>
      <vt:lpstr>Retinal Connectomics Project – EyeWire (Princeton University, Jan – Feb 2015)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장민수</dc:creator>
  <cp:lastModifiedBy>장민수</cp:lastModifiedBy>
  <cp:revision>722</cp:revision>
  <dcterms:created xsi:type="dcterms:W3CDTF">2020-02-24T11:19:56Z</dcterms:created>
  <dcterms:modified xsi:type="dcterms:W3CDTF">2020-08-21T06:19:03Z</dcterms:modified>
</cp:coreProperties>
</file>